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c36eefa3-c24b-d045-2084-1192c5400cbc}">
          <p14:sldIdLst>
            <p14:sldId id="256"/>
          </p14:sldIdLst>
        </p14:section>
        <p14:section name="Problem ve veri" id="{1d84b6bf-11be-8e4d-a9d8-220b790becf9}">
          <p14:sldIdLst>
            <p14:sldId id="257"/>
          </p14:sldIdLst>
        </p14:section>
        <p14:section name="Keşif" id="{dbac18e6-1944-5d4c-f24c-069f90c23ba9}">
          <p14:sldIdLst>
            <p14:sldId id="258"/>
          </p14:sldIdLst>
        </p14:section>
        <p14:section name="Model ve sonuç" id="{0a98c38a-014c-e807-5e13-5e65e018bbfb}">
          <p14:sldIdLst>
            <p14:sldId id="259"/>
          </p14:sldIdLst>
        </p14:section>
        <p14:section name="Sonuç" id="{e9764e75-feff-d032-45dd-7e27ad4be27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6465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64653"/>
                </a:solidFill>
                <a:latin typeface="+mn-lt"/>
              </a:rPr>
              <a:t>Haftalık çalışma grubuna göre geçme oranı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Geçme oranı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&quot;%&quot;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0-5 sa</c:v>
                  </c:pt>
                  <c:pt idx="1">
                    <c:v>5-10 sa</c:v>
                  </c:pt>
                  <c:pt idx="2">
                    <c:v>10-15 sa</c:v>
                  </c:pt>
                  <c:pt idx="3">
                    <c:v>15-20 sa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36</c:v>
                </c:pt>
                <c:pt idx="2">
                  <c:v>64</c:v>
                </c:pt>
                <c:pt idx="3">
                  <c:v>100</c:v>
                </c:pt>
              </c:numCache>
            </c:numRef>
          </c:val>
        </c:ser>
        <c:dLbls>
          <c:numFmt formatCode="&quot;%&quot;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Projenin sorusu: bir öğrencinin çalışma saati, uyku süresi ve devamsızlığından dersi geçip geçmeyeceğini tahmin edebilir miyiz?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YU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Öğrenci Başarı Tahmini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Çalışma, uyku ve devamsızlıktan dersi geçip geçmeyeceğini tahmin eden bir yapay zeka modeli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46A"/>
                </a:solidFill>
              </a:rPr>
              <a:t>Uçtan Uca Yapay Zeka Projesi: Veriden Tahmine  ·  Python · Pandas · scikit-learn · Colab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Üç bilgiden tek bir soru: geçer mi, kalır mı?</a:t>
            </a:r>
            <a:endParaRPr lang="en-US" sz="3000" dirty="0"/>
          </a:p>
        </p:txBody>
      </p:sp>
      <p:sp>
        <p:nvSpPr>
          <p:cNvPr id="3" name="ozellik-0"/>
          <p:cNvSpPr/>
          <p:nvPr/>
        </p:nvSpPr>
        <p:spPr>
          <a:xfrm>
            <a:off x="457200" y="118872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Haftalık çalışma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3"/>
                </a:solidFill>
              </a:rPr>
              <a:t>saat / hafta</a:t>
            </a:r>
            <a:endParaRPr lang="en-US" sz="1200" dirty="0"/>
          </a:p>
        </p:txBody>
      </p:sp>
      <p:sp>
        <p:nvSpPr>
          <p:cNvPr id="7" name="ozellik-1"/>
          <p:cNvSpPr/>
          <p:nvPr/>
        </p:nvSpPr>
        <p:spPr>
          <a:xfrm>
            <a:off x="457200" y="205740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240280"/>
            <a:ext cx="320040" cy="32004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Günlük uyku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3"/>
                </a:solidFill>
              </a:rPr>
              <a:t>saat / gün</a:t>
            </a:r>
            <a:endParaRPr lang="en-US" sz="1200" dirty="0"/>
          </a:p>
        </p:txBody>
      </p:sp>
      <p:sp>
        <p:nvSpPr>
          <p:cNvPr id="11" name="ozellik-2"/>
          <p:cNvSpPr/>
          <p:nvPr/>
        </p:nvSpPr>
        <p:spPr>
          <a:xfrm>
            <a:off x="457200" y="29260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108960"/>
            <a:ext cx="320040" cy="3200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Devamsızlık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3"/>
                </a:solidFill>
              </a:rPr>
              <a:t>gün / dönem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2057400"/>
            <a:ext cx="457200" cy="36576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188720"/>
            <a:ext cx="4114800" cy="2423160"/>
          </a:xfrm>
          <a:prstGeom prst="roundRect">
            <a:avLst>
              <a:gd name="adj" fmla="val 30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13258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C46A"/>
                </a:solidFill>
              </a:rPr>
              <a:t>Hedef: gecti (1 / 0)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Sınıflandırma problemi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60 öğrencilik simüle sınıf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5 eksik + 1 hatalı kayıt temizlendi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33 geçti / 27 kaldı — dengeli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3"/>
                </a:solidFill>
              </a:rPr>
              <a:t>Gerçek notlar kişisel veri olduğu için veri seti simüle edildi; eksikler medyanla dolduruldu.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Çalıştıkça geçme oranı düzenli olarak artıyor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lgu-0"/>
          <p:cNvSpPr/>
          <p:nvPr/>
        </p:nvSpPr>
        <p:spPr>
          <a:xfrm>
            <a:off x="5669280" y="1188720"/>
            <a:ext cx="3017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13,8 sa vs 6,1 sa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64C"/>
                </a:solidFill>
              </a:rPr>
              <a:t>Geçenlerin ve kalanların ortalama haftalık çalışması</a:t>
            </a:r>
            <a:endParaRPr lang="en-US" sz="1200" dirty="0"/>
          </a:p>
        </p:txBody>
      </p:sp>
      <p:sp>
        <p:nvSpPr>
          <p:cNvPr id="7" name="bulgu-1"/>
          <p:cNvSpPr/>
          <p:nvPr/>
        </p:nvSpPr>
        <p:spPr>
          <a:xfrm>
            <a:off x="5669280" y="2331720"/>
            <a:ext cx="3017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4,2 gün vs 5,8 gün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64C"/>
                </a:solidFill>
              </a:rPr>
              <a:t>Devamsızlık ters yönde etkili ama daha zayıf</a:t>
            </a:r>
            <a:endParaRPr lang="en-US" sz="1200" dirty="0"/>
          </a:p>
        </p:txBody>
      </p:sp>
      <p:sp>
        <p:nvSpPr>
          <p:cNvPr id="10" name="bulgu-2"/>
          <p:cNvSpPr/>
          <p:nvPr/>
        </p:nvSpPr>
        <p:spPr>
          <a:xfrm>
            <a:off x="5669280" y="3474720"/>
            <a:ext cx="3017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6,7 sa = 6,7 sa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64C"/>
                </a:solidFill>
              </a:rPr>
              <a:t>Uyku iki grupta aynı; tek başına ayırt etmiyor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 10 öğrenciden ~8'ini doğru biliyor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457200" y="1143000"/>
            <a:ext cx="259689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%78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64C"/>
                </a:solidFill>
              </a:rPr>
              <a:t>Çapraz doğrulama doğruluğu (60 öğrenci, 5 kat)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3273552" y="1143000"/>
            <a:ext cx="259689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2344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%67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210312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64C"/>
                </a:solidFill>
              </a:rPr>
              <a:t>Ayrı test kümesi (15 öğrencide 10 doğru)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6089904" y="1143000"/>
            <a:ext cx="2596896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23444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A8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%53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210312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64C"/>
                </a:solidFill>
              </a:rPr>
              <a:t>Taban çizgisi: herkese “geçer” demek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Yöntem: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DecisionTreeClassifier, %75 eğitim / %25 test; derinlik (4) yalnızca eğitim verisinde çapraz doğrulamayla seçildi.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6F51"/>
                </a:solidFill>
              </a:rPr>
              <a:t>Dikkat: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Eğitimde %98, testte %67 — model küçük veriyi kısmen ezberliyor (aşırı öğrenme). Esas ölçü olarak daha kararlı olan çapraz doğrulamayı kullanıyoruz.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Düzenli çalışma en güçlü kaldıraç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Üç basit bilgi, riski şanstan belirgin şekilde iyi tahmin ediyor (%78 vs %53).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15 saatin üzerinde çalışanların tamamı geçti; 5 saatin altında yalnızca %13.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Veri küçük ve simüle: sonuç bir kavram kanıtı.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Sıradaki adım: gerçek veri, ara sınav notu gibi güçlü bir özellik, daha sade model.</a:t>
            </a:r>
            <a:endParaRPr lang="en-US" sz="1500" dirty="0"/>
          </a:p>
        </p:txBody>
      </p:sp>
      <p:sp>
        <p:nvSpPr>
          <p:cNvPr id="4" name="mini-uygulama"/>
          <p:cNvSpPr/>
          <p:nvPr/>
        </p:nvSpPr>
        <p:spPr>
          <a:xfrm>
            <a:off x="4846320" y="114300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749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</a:rPr>
              <a:t>Mini uygulama: tahmin_et()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178308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D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tahmin_et(15, 7.5, 2)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GEÇER (olasılık %100)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D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tahmin_et(4, 6, 9)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RİSKLİ (olasılık %0) — çalışmayı artır, devamsızlığı azalt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grenci Basari">
  <a:themeElements>
    <a:clrScheme name="Ogrenci Basari">
      <a:dk1>
        <a:srgbClr val="1F2A30"/>
      </a:dk1>
      <a:lt1>
        <a:srgbClr val="FFFFFF"/>
      </a:lt1>
      <a:dk2>
        <a:srgbClr val="264653"/>
      </a:dk2>
      <a:lt2>
        <a:srgbClr val="EEF4F3"/>
      </a:lt2>
      <a:accent1>
        <a:srgbClr val="2A9D8F"/>
      </a:accent1>
      <a:accent2>
        <a:srgbClr val="E76F51"/>
      </a:accent2>
      <a:accent3>
        <a:srgbClr val="E9C46A"/>
      </a:accent3>
      <a:accent4>
        <a:srgbClr val="264653"/>
      </a:accent4>
      <a:accent5>
        <a:srgbClr val="8AB17D"/>
      </a:accent5>
      <a:accent6>
        <a:srgbClr val="F4A261"/>
      </a:accent6>
      <a:hlink>
        <a:srgbClr val="2A9D8F"/>
      </a:hlink>
      <a:folHlink>
        <a:srgbClr val="264653"/>
      </a:folHlink>
    </a:clrScheme>
    <a:fontScheme name="Ogrenci Basar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Öğrenci Başarı Tahmini</dc:title>
  <dc:subject>PptxGenJS Presentation</dc:subject>
  <dc:creator>PptxGenJS</dc:creator>
  <cp:lastModifiedBy>PptxGenJS</cp:lastModifiedBy>
  <cp:revision>1</cp:revision>
  <dcterms:created xsi:type="dcterms:W3CDTF">2026-10-18T13:56:06Z</dcterms:created>
  <dcterms:modified xsi:type="dcterms:W3CDTF">2026-10-18T13:56:06Z</dcterms:modified>
</cp:coreProperties>
</file>